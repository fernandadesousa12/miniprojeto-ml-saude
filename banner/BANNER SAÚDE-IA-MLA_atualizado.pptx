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43206975" cx="324040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7" roundtripDataSignature="AMtx7miApUjMRkFDqiImG1eL7GK7V+Ve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0" y="695325"/>
            <a:ext cx="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4812" cy="4113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/>
          <p:nvPr>
            <p:ph idx="2" type="sldImg"/>
          </p:nvPr>
        </p:nvSpPr>
        <p:spPr>
          <a:xfrm>
            <a:off x="2143125" y="695325"/>
            <a:ext cx="2571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"/>
            <a:headEnd len="sm" w="sm" type="none"/>
            <a:tailEnd len="sm" w="sm" type="none"/>
          </a:ln>
        </p:spPr>
      </p:sp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 rot="5400000">
            <a:off x="8705056" y="16517144"/>
            <a:ext cx="36863338" cy="7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 rot="5400000">
            <a:off x="-5951537" y="9302751"/>
            <a:ext cx="36863338" cy="21718587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 rot="5400000">
            <a:off x="1944687" y="9756775"/>
            <a:ext cx="28513087" cy="29160787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6351588" y="30245050"/>
            <a:ext cx="19442112" cy="3570288"/>
          </a:xfrm>
          <a:prstGeom prst="rect">
            <a:avLst/>
          </a:prstGeom>
          <a:noFill/>
          <a:ln>
            <a:noFill/>
          </a:ln>
        </p:spPr>
        <p:txBody>
          <a:bodyPr anchorCtr="0" anchor="b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/>
          <p:nvPr>
            <p:ph idx="2" type="pic"/>
          </p:nvPr>
        </p:nvSpPr>
        <p:spPr>
          <a:xfrm>
            <a:off x="6351588" y="3860800"/>
            <a:ext cx="19442112" cy="25923875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6351588" y="33815338"/>
            <a:ext cx="19442112" cy="5070475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8" name="Google Shape;28;p6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1620838" y="1720850"/>
            <a:ext cx="10660062" cy="7319963"/>
          </a:xfrm>
          <a:prstGeom prst="rect">
            <a:avLst/>
          </a:prstGeom>
          <a:noFill/>
          <a:ln>
            <a:noFill/>
          </a:ln>
        </p:spPr>
        <p:txBody>
          <a:bodyPr anchorCtr="0" anchor="b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12669838" y="1720850"/>
            <a:ext cx="18113375" cy="36876038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32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 sz="28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 sz="24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/>
        </p:txBody>
      </p:sp>
      <p:sp>
        <p:nvSpPr>
          <p:cNvPr id="33" name="Google Shape;33;p7"/>
          <p:cNvSpPr txBox="1"/>
          <p:nvPr>
            <p:ph idx="2" type="body"/>
          </p:nvPr>
        </p:nvSpPr>
        <p:spPr>
          <a:xfrm>
            <a:off x="1620838" y="9040813"/>
            <a:ext cx="10660062" cy="29556075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" name="Google Shape;34;p7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1620838" y="9671050"/>
            <a:ext cx="14316075" cy="4030663"/>
          </a:xfrm>
          <a:prstGeom prst="rect">
            <a:avLst/>
          </a:prstGeom>
          <a:noFill/>
          <a:ln>
            <a:noFill/>
          </a:ln>
        </p:spPr>
        <p:txBody>
          <a:bodyPr anchorCtr="0" anchor="b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1620838" y="13701713"/>
            <a:ext cx="14316075" cy="24895175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16460788" y="9671050"/>
            <a:ext cx="14322425" cy="4030663"/>
          </a:xfrm>
          <a:prstGeom prst="rect">
            <a:avLst/>
          </a:prstGeom>
          <a:noFill/>
          <a:ln>
            <a:noFill/>
          </a:ln>
        </p:spPr>
        <p:txBody>
          <a:bodyPr anchorCtr="0" anchor="b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16460788" y="13701713"/>
            <a:ext cx="14322425" cy="24895175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1620838" y="10080625"/>
            <a:ext cx="14503400" cy="28513088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28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16276638" y="10080625"/>
            <a:ext cx="14504987" cy="28513088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 sz="28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type="title"/>
          </p:nvPr>
        </p:nvSpPr>
        <p:spPr>
          <a:xfrm>
            <a:off x="2559050" y="27763788"/>
            <a:ext cx="27544713" cy="8582025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2559050" y="18313400"/>
            <a:ext cx="27544713" cy="9450388"/>
          </a:xfrm>
          <a:prstGeom prst="rect">
            <a:avLst/>
          </a:prstGeom>
          <a:noFill/>
          <a:ln>
            <a:noFill/>
          </a:ln>
        </p:spPr>
        <p:txBody>
          <a:bodyPr anchorCtr="0" anchor="b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57" name="Google Shape;57;p11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/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2"/>
          <p:cNvSpPr txBox="1"/>
          <p:nvPr>
            <p:ph idx="1" type="body"/>
          </p:nvPr>
        </p:nvSpPr>
        <p:spPr>
          <a:xfrm>
            <a:off x="1620837" y="10080625"/>
            <a:ext cx="29160787" cy="28513087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ctrTitle"/>
          </p:nvPr>
        </p:nvSpPr>
        <p:spPr>
          <a:xfrm>
            <a:off x="2430463" y="13422313"/>
            <a:ext cx="27543125" cy="926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" type="subTitle"/>
          </p:nvPr>
        </p:nvSpPr>
        <p:spPr>
          <a:xfrm>
            <a:off x="4860925" y="24484013"/>
            <a:ext cx="22682200" cy="11041062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lvl="0" algn="ctr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SzPts val="15100"/>
              <a:buNone/>
              <a:defRPr/>
            </a:lvl1pPr>
            <a:lvl2pPr lvl="1" algn="ctr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SzPts val="13200"/>
              <a:buNone/>
              <a:defRPr/>
            </a:lvl2pPr>
            <a:lvl3pPr lvl="2" algn="ctr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SzPts val="11300"/>
              <a:buNone/>
              <a:defRPr/>
            </a:lvl3pPr>
            <a:lvl4pPr lvl="3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4pPr>
            <a:lvl5pPr lvl="4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5pPr>
            <a:lvl6pPr lvl="5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6pPr>
            <a:lvl7pPr lvl="6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7pPr>
            <a:lvl8pPr lvl="7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8pPr>
            <a:lvl9pPr lvl="8" algn="ctr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SzPts val="95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620837" y="1730375"/>
            <a:ext cx="29160787" cy="7199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620837" y="10080625"/>
            <a:ext cx="29160787" cy="28513087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7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28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6208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/>
        </p:nvSpPr>
        <p:spPr>
          <a:xfrm>
            <a:off x="11071225" y="40044687"/>
            <a:ext cx="10261600" cy="2300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Arial"/>
              <a:buNone/>
            </a:pPr>
            <a:r>
              <a:t/>
            </a:r>
            <a:endParaRPr b="0" i="0" sz="8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3223537" y="40044687"/>
            <a:ext cx="7558087" cy="229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5700"/>
              <a:buFont typeface="Calibri"/>
              <a:buNone/>
              <a:defRPr b="0" i="0" sz="57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11" Type="http://schemas.openxmlformats.org/officeDocument/2006/relationships/image" Target="../media/image2.png"/><Relationship Id="rId10" Type="http://schemas.openxmlformats.org/officeDocument/2006/relationships/image" Target="../media/image4.png"/><Relationship Id="rId12" Type="http://schemas.openxmlformats.org/officeDocument/2006/relationships/image" Target="../media/image1.png"/><Relationship Id="rId9" Type="http://schemas.openxmlformats.org/officeDocument/2006/relationships/hyperlink" Target="https://www.ibm.com/br-pt/think/topics/machine-learning?utm_source=chatgpt.com" TargetMode="External"/><Relationship Id="rId5" Type="http://schemas.openxmlformats.org/officeDocument/2006/relationships/image" Target="../media/image6.png"/><Relationship Id="rId6" Type="http://schemas.openxmlformats.org/officeDocument/2006/relationships/hyperlink" Target="https://www.kaggle.com/datasets/alexteboul/diabetes-health-indicators-dataset?resource=download" TargetMode="External"/><Relationship Id="rId7" Type="http://schemas.openxmlformats.org/officeDocument/2006/relationships/hyperlink" Target="https://developers.google.com/machine-learning/crash-course?hl=pt-BR&amp;utm_source=chatgpt.com" TargetMode="External"/><Relationship Id="rId8" Type="http://schemas.openxmlformats.org/officeDocument/2006/relationships/hyperlink" Target="https://scikit-learn.org/stable/user_guide.html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" title="topo-banner-cetam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75" y="17450"/>
            <a:ext cx="32292951" cy="43206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59238" y="34490938"/>
            <a:ext cx="14287499" cy="74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06838" y="14469388"/>
            <a:ext cx="14287499" cy="74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9988" y="24565130"/>
            <a:ext cx="14287499" cy="74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" title="topo-cetam-banner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625" y="-800"/>
            <a:ext cx="32292949" cy="1710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2500" y="16518829"/>
            <a:ext cx="14287499" cy="74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54438" y="6030238"/>
            <a:ext cx="14287499" cy="74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" title="subtitulos-fundo-banner-cetam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2500" y="6063475"/>
            <a:ext cx="14287499" cy="74603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"/>
          <p:cNvSpPr txBox="1"/>
          <p:nvPr/>
        </p:nvSpPr>
        <p:spPr>
          <a:xfrm>
            <a:off x="10261600" y="277925"/>
            <a:ext cx="12117300" cy="24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635"/>
              </a:buClr>
              <a:buSzPts val="6000"/>
              <a:buFont typeface="Arial Black"/>
              <a:buNone/>
            </a:pPr>
            <a:r>
              <a:rPr b="1" i="0" lang="en-US" sz="4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AMOSTRA DE BANNERS</a:t>
            </a:r>
            <a:endParaRPr b="0" i="0" sz="4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635"/>
              </a:buClr>
              <a:buSzPts val="6000"/>
              <a:buFont typeface="Arial Black"/>
              <a:buNone/>
            </a:pPr>
            <a:r>
              <a:rPr b="1" i="0" lang="en-US" sz="4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CURSO TÉCNICO EM </a:t>
            </a:r>
            <a:endParaRPr b="1" i="0" sz="4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2635"/>
              </a:buClr>
              <a:buSzPts val="6000"/>
              <a:buFont typeface="Arial Black"/>
              <a:buNone/>
            </a:pPr>
            <a:r>
              <a:rPr b="1" i="0" lang="en-US" sz="4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INTELIGÊNCIA ARTIFICAL</a:t>
            </a:r>
            <a:endParaRPr b="0" i="0" sz="4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1255712" y="3144837"/>
            <a:ext cx="300753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6000" lIns="432000" spcFirstLastPara="1" rIns="432000" wrap="square" tIns="216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Calibri"/>
              <a:buNone/>
            </a:pPr>
            <a:r>
              <a:rPr b="1" lang="en-US" sz="72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Predição de Diabetes: Análise e Comparação de Modelos de Classificação </a:t>
            </a:r>
            <a:endParaRPr b="0" i="0" sz="7200" u="none" cap="none" strike="noStrike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4827587" y="4619625"/>
            <a:ext cx="22682100" cy="24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000" lIns="432000" spcFirstLastPara="1" rIns="432000" wrap="square" tIns="2160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1" lang="en-US" sz="54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Erickson Carlos, Fernanda Sousa, Victor Matheus </a:t>
            </a:r>
            <a:endParaRPr b="1" i="0" sz="54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34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Escola de Educação Profissional e Tecnológica Aníbal Beça - CETAM</a:t>
            </a:r>
            <a:br>
              <a:rPr lang="en-US" sz="34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4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Curso Técnico em Inteligência Artificial </a:t>
            </a:r>
            <a:br>
              <a:rPr lang="en-US" sz="34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4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Manaus – AM, Brasil </a:t>
            </a:r>
            <a:endParaRPr b="0" i="0" sz="3400" u="none" cap="none" strike="noStrike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34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rPr>
              <a:t>E-mail para contato: fernandadesousaaa12@gmail.com </a:t>
            </a:r>
            <a:endParaRPr b="0" i="0" sz="3400" u="none" cap="none" strike="noStrike">
              <a:solidFill>
                <a:srgbClr val="1C45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1739900" y="8667750"/>
            <a:ext cx="86613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endParaRPr b="0" i="0" sz="7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144693" y="27295475"/>
            <a:ext cx="86613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METODOLOGIA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606550" y="19199204"/>
            <a:ext cx="53577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255712" y="10317162"/>
            <a:ext cx="14287500" cy="82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/>
              <a:t>A diabetes é uma doença crônica que afeta milhões de pessoas em todo o mundo e representa um importante desafio para os sistemas de saúde. Com o avanço da Inteligência Artificial e do Machine Learning, tornou-se possível analisar grandes volumes de dados para identificar padrões e prever a ocorrência de doenças. Neste trabalho, foi utilizado um conjunto de dados contendo informações relacionadas à saúde, hábitos de vida e características demográficas dos indivíduos. O objetivo é desenvolver modelos capazes de prever a presença de diabetes, auxiliando na identificação precoce de pessoas em situação de risco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255700" y="20643225"/>
            <a:ext cx="14287500" cy="6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/>
              <a:t>Objetivo Geral:</a:t>
            </a:r>
            <a:endParaRPr b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/>
              <a:t>Desenvolver e avaliar modelos de Machine Learning para prever a</a:t>
            </a:r>
            <a:endParaRPr sz="3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/>
              <a:t>ocorrência de diabetes.</a:t>
            </a:r>
            <a:endParaRPr sz="3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800"/>
              <a:t>Objetivos Específicos:</a:t>
            </a:r>
            <a:endParaRPr b="1" sz="4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/>
              <a:t>● Realizar análise exploratória dos dados;</a:t>
            </a:r>
            <a:endParaRPr sz="3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/>
              <a:t>● Identificar variáveis relacionadas ao diabetes;</a:t>
            </a:r>
            <a:endParaRPr sz="3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/>
              <a:t>● Aplicar técnicas de pré-processamento;</a:t>
            </a:r>
            <a:endParaRPr sz="3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/>
              <a:t>● Treinar e comparar diferentes modelos de classificação;</a:t>
            </a:r>
            <a:endParaRPr sz="3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700"/>
              <a:t>● Avaliar o desempenho dos modelos por meio de métricas apropriadas</a:t>
            </a:r>
            <a:endParaRPr sz="3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3700"/>
          </a:p>
        </p:txBody>
      </p:sp>
      <p:sp>
        <p:nvSpPr>
          <p:cNvPr id="89" name="Google Shape;89;p1"/>
          <p:cNvSpPr txBox="1"/>
          <p:nvPr/>
        </p:nvSpPr>
        <p:spPr>
          <a:xfrm>
            <a:off x="1255712" y="28827412"/>
            <a:ext cx="14287500" cy="6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/>
              <a:t>A metodologia seguiu o fluxo padrão de Ciência de Dados:</a:t>
            </a:r>
            <a:endParaRPr sz="3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/>
              <a:t>Passos Metodológicos:</a:t>
            </a:r>
            <a:endParaRPr sz="3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US" sz="3200"/>
            </a:br>
            <a:r>
              <a:rPr lang="en-US" sz="3200"/>
              <a:t>1. Carga &amp; Tradução: Obtenção via kagglehub e tradução de 22 colunas;</a:t>
            </a:r>
            <a:br>
              <a:rPr lang="en-US" sz="3200"/>
            </a:br>
            <a:br>
              <a:rPr lang="en-US" sz="3200"/>
            </a:br>
            <a:r>
              <a:rPr lang="en-US" sz="3200"/>
              <a:t>2. Divisão do Dataset: 80% treino e 20% teste com</a:t>
            </a:r>
            <a:endParaRPr sz="3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/>
              <a:t>estratificação (stratify=y, seed=42);</a:t>
            </a:r>
            <a:br>
              <a:rPr lang="en-US" sz="3200"/>
            </a:br>
            <a:br>
              <a:rPr lang="en-US" sz="3200"/>
            </a:br>
            <a:r>
              <a:rPr lang="en-US" sz="3200"/>
              <a:t>3. Normalização: Ajuste de escala com StandardScaler;</a:t>
            </a:r>
            <a:br>
              <a:rPr lang="en-US" sz="3200"/>
            </a:br>
            <a:endParaRPr sz="32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/>
              <a:t>4. Modelagem: Treinamento dos algoritmos de Regressão Logística e Random Forest.</a:t>
            </a:r>
            <a:endParaRPr sz="32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3200"/>
          </a:p>
        </p:txBody>
      </p:sp>
      <p:sp>
        <p:nvSpPr>
          <p:cNvPr id="90" name="Google Shape;90;p1"/>
          <p:cNvSpPr txBox="1"/>
          <p:nvPr/>
        </p:nvSpPr>
        <p:spPr>
          <a:xfrm>
            <a:off x="17268825" y="8705850"/>
            <a:ext cx="14287500" cy="17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FUNDAMENTAÇÃO TEÓRICA</a:t>
            </a:r>
            <a:endParaRPr b="1" i="0" sz="7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6759250" y="10166750"/>
            <a:ext cx="14287500" cy="75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/>
              <a:t>O Machine Learning é uma área da Inteligência Artificial que identifica padrões em dados para realizar previsões. Na saúde, pode auxiliar na análise de indicadores relacionados a doenças.</a:t>
            </a:r>
            <a:endParaRPr sz="4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400"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400"/>
              <a:t>Neste estudo, utiliza-se classificação binária para identificar registros com e sem diabetes, aplicando os modelos Regressão Logística e Random Forest. O desempenho é analisado por métricas como acurácia, AUC-ROC, precisão, recall e F1-score.</a:t>
            </a:r>
            <a:endParaRPr sz="4400"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sz="4400"/>
          </a:p>
        </p:txBody>
      </p:sp>
      <p:sp>
        <p:nvSpPr>
          <p:cNvPr id="92" name="Google Shape;92;p1"/>
          <p:cNvSpPr txBox="1"/>
          <p:nvPr/>
        </p:nvSpPr>
        <p:spPr>
          <a:xfrm>
            <a:off x="17043400" y="17171975"/>
            <a:ext cx="129603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DISCUSSÃO E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7345025" y="37226875"/>
            <a:ext cx="71724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7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7049750" y="38835012"/>
            <a:ext cx="14287500" cy="3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99695" marR="0" rtl="0" algn="l">
              <a:lnSpc>
                <a:spcPct val="1070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BRUCE, Peter; BRUCE, Andrew; GEREN, Peter. Practical Statistics for Data Scientists. 2. ed. Sebastopol: O'Reilly, 2020.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9695" marR="0" rtl="0" algn="l">
              <a:lnSpc>
                <a:spcPct val="10708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GÉRON, Aurélien. Mãos </a:t>
            </a:r>
            <a:r>
              <a:rPr b="0" i="0" lang="en-US" sz="1800" u="none" cap="none" strike="noStrike">
                <a:solidFill>
                  <a:srgbClr val="000018"/>
                </a:solidFill>
                <a:latin typeface="Arial"/>
                <a:ea typeface="Arial"/>
                <a:cs typeface="Arial"/>
                <a:sym typeface="Arial"/>
              </a:rPr>
              <a:t>à 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Obra: Aprendizado de Máquina com Scikit-Learn, Keras &amp; TensorFlow. 3. ed. Rio de Janeiro: Alta Books, 2025.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9695" marR="0" rtl="0" algn="l">
              <a:lnSpc>
                <a:spcPct val="107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JAMES, Gareth; WITTEN, Daniela; HASTIE, Trevor; TIBSHIRANI, Robert. An Introduction to Statistical Learning: with Applications in Python. Edição de 2023. [S.I.]: Springer, 2023.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906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HASTIE, Trevor; TIBSHIRANI, Robert; FRIEDMAN, Jerome. The Elements of Statistical Learning. 2. ed. New York: Springer, 2009.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906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GOODFELLOW, Ian; BENGIO, Yoshua; COURVILLE, Aaron. Deep Learning. Cambridge: MIT Press, 2016.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906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u="sng">
                <a:solidFill>
                  <a:schemeClr val="dk2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https://www.kaggle.com/datasets/alexteboul/diabetes-health-indicators-dataset?resource=download</a:t>
            </a:r>
            <a:r>
              <a:rPr lang="en-US" sz="1800">
                <a:solidFill>
                  <a:schemeClr val="dk1"/>
                </a:solidFill>
              </a:rPr>
              <a:t> - acessado em 15/09/2026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00" u="sng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Google. Curso Intensivo de Machine Learning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material prático com fundamentos, regressão, classificação, preparação de dados, overfitting e exercícios.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800" u="sng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Scikit-learn. User Guide – Machine Learning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documentação técnica sobre modelos supervisionados e não supervisionados, árvores, SVM, vizinhos, ensembles e outros métodos.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800" u="sng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IBM. O que é aprendizado de máquina?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— material introdutório sobre conceitos e aplicações de Machine Learning.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9029700" y="2463725"/>
            <a:ext cx="12573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TECNOLOGIA	.	INOVAÇÃO		.	EDUCAÇÃO		.	AMAZÔNIA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909750" y="42065400"/>
            <a:ext cx="1257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alibri"/>
                <a:ea typeface="Calibri"/>
                <a:cs typeface="Calibri"/>
                <a:sym typeface="Calibri"/>
              </a:rPr>
              <a:t>Figura 1: </a:t>
            </a:r>
            <a:r>
              <a:rPr lang="en-US" sz="3000">
                <a:latin typeface="Calibri"/>
                <a:ea typeface="Calibri"/>
                <a:cs typeface="Calibri"/>
                <a:sym typeface="Calibri"/>
              </a:rPr>
              <a:t>Distribuição da variável alvo no conjunto de dados (CDC BRFSS). </a:t>
            </a:r>
            <a:endParaRPr sz="3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860788" y="20912388"/>
            <a:ext cx="14578026" cy="2688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8802075" y="29956362"/>
            <a:ext cx="10201849" cy="593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970500" y="23859988"/>
            <a:ext cx="14068026" cy="523539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16860787" y="18595500"/>
            <a:ext cx="14287500" cy="21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/>
              <a:t>Os modelos treinados apresentaram excelente capacidade de generalização no conjunto de teste (20% dos dados):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17660774" y="29300213"/>
            <a:ext cx="13503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2: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Matrizes de confusão comparativas dos dois modelos avaliados no conjunto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7935224" y="35987788"/>
            <a:ext cx="13503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Figura 3: </a:t>
            </a:r>
            <a:r>
              <a:rPr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Principais fatores de risco identificados pelo modelo Random Forest.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2014-09-15T23:22:55Z</dcterms:created>
  <dc:creator>Marcia</dc:creator>
</cp:coreProperties>
</file>